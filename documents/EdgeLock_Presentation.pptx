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42032" y="1207008"/>
            <a:ext cx="7132320" cy="4114800"/>
          </a:xfrm>
          <a:prstGeom prst="roundRect">
            <a:avLst>
              <a:gd name="adj" fmla="val 6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8880" y="1097280"/>
            <a:ext cx="7132320" cy="4114800"/>
          </a:xfrm>
          <a:prstGeom prst="roundRect">
            <a:avLst>
              <a:gd name="adj" fmla="val 6000"/>
            </a:avLst>
          </a:prstGeom>
          <a:solidFill>
            <a:srgbClr val="1E2540"/>
          </a:solidFill>
          <a:ln w="1270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14630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5011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NHAI HACKATHON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6366F1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108960"/>
            <a:ext cx="5760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Enterprise-Grade Offline-First Face Authentication</a:t>
            </a:r>
            <a:br/>
            <a:r>
              <a:t>&amp; 3D Liveness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11480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171B3A"/>
          </a:solidFill>
          <a:ln w="12700">
            <a:solidFill>
              <a:srgbClr val="35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1422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66F1"/>
                </a:solidFill>
                <a:latin typeface="Calibri"/>
              </a:defRPr>
            </a:pPr>
            <a:r>
              <a:t>🧠  TEAM BINARY BRAINS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66928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2008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📱  React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66928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72008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🔒  Offline-First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66928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72008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🧬  On-Device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3F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Highway field crews work in</a:t>
            </a:r>
            <a:br/>
            <a:r>
              <a:t>zero-connectivity zones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71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No internet</a:t>
            </a:r>
            <a:r>
              <a:rPr sz="1400">
                <a:solidFill>
                  <a:srgbClr val="94A3B8"/>
                </a:solidFill>
                <a:latin typeface="Calibri"/>
              </a:rPr>
              <a:t> — Remote highways have zero cellular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58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Buddy punching</a:t>
            </a:r>
            <a:r>
              <a:rPr sz="1400">
                <a:solidFill>
                  <a:srgbClr val="94A3B8"/>
                </a:solidFill>
                <a:latin typeface="Calibri"/>
              </a:rPr>
              <a:t> — Proxy attendance with shared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44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Spoofing attacks</a:t>
            </a:r>
            <a:r>
              <a:rPr sz="1400">
                <a:solidFill>
                  <a:srgbClr val="94A3B8"/>
                </a:solidFill>
                <a:latin typeface="Calibri"/>
              </a:rPr>
              <a:t> — Photos &amp; videos used to fake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230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Audit gap</a:t>
            </a:r>
            <a:r>
              <a:rPr sz="1400">
                <a:solidFill>
                  <a:srgbClr val="94A3B8"/>
                </a:solidFill>
                <a:latin typeface="Calibri"/>
              </a:rPr>
              <a:t> — No tamper-proof digital trail of attendance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097280"/>
            <a:ext cx="4389120" cy="2926080"/>
          </a:xfrm>
          <a:prstGeom prst="roundRect">
            <a:avLst>
              <a:gd name="adj" fmla="val 6000"/>
            </a:avLst>
          </a:prstGeom>
          <a:solidFill>
            <a:srgbClr val="12162A"/>
          </a:solidFill>
          <a:ln w="1905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975104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5603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Photo: Highway construction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992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Remote NHAI field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297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NHAI manages 1,40,000+ km of national highways across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100% Offline Face Auth</a:t>
            </a:r>
            <a:br/>
            <a:r>
              <a:t>with 3D Liveness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71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On-device AI</a:t>
            </a:r>
            <a:r>
              <a:rPr sz="1400">
                <a:solidFill>
                  <a:srgbClr val="94A3B8"/>
                </a:solidFill>
                <a:latin typeface="Calibri"/>
              </a:rPr>
              <a:t> — GhostFaceNet INT8 runs entirely on the 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800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3D liveness</a:t>
            </a:r>
            <a:r>
              <a:rPr sz="1400">
                <a:solidFill>
                  <a:srgbClr val="94A3B8"/>
                </a:solidFill>
                <a:latin typeface="Calibri"/>
              </a:rPr>
              <a:t> — Blink + head turn + depth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830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AES-256 encrypted</a:t>
            </a:r>
            <a:r>
              <a:rPr sz="1400">
                <a:solidFill>
                  <a:srgbClr val="94A3B8"/>
                </a:solidFill>
                <a:latin typeface="Calibri"/>
              </a:rPr>
              <a:t> — Biometric data secured at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859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Auto-sync</a:t>
            </a:r>
            <a:r>
              <a:rPr sz="1400">
                <a:solidFill>
                  <a:srgbClr val="94A3B8"/>
                </a:solidFill>
                <a:latin typeface="Calibri"/>
              </a:rPr>
              <a:t> — Logs upload when connectivity returns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8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GPS-tagged</a:t>
            </a:r>
            <a:r>
              <a:rPr sz="1400">
                <a:solidFill>
                  <a:srgbClr val="94A3B8"/>
                </a:solidFill>
                <a:latin typeface="Calibri"/>
              </a:rPr>
              <a:t> — Every auth log includes geo-coordinates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914400"/>
            <a:ext cx="2560320" cy="475488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34086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918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App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050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Auth flow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3152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7696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step runs on-device — zero cloud dependency during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6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80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Camera</a:t>
            </a:r>
            <a:br/>
            <a:r>
              <a:t>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81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48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782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782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82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MediaPipe</a:t>
            </a:r>
            <a:br/>
            <a:r>
              <a:t>Face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83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50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784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84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🖼️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84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JPEG</a:t>
            </a:r>
            <a:br/>
            <a:r>
              <a:t>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52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786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86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86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Face Align</a:t>
            </a:r>
            <a:br/>
            <a:r>
              <a:t>+ CLAHE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87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54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788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788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88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GhostFace</a:t>
            </a:r>
            <a:br/>
            <a:r>
              <a:t>INT8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89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56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790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790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90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Cosine</a:t>
            </a:r>
            <a:br/>
            <a:r>
              <a:t>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91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58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2792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792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92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Encrypted</a:t>
            </a:r>
            <a:br/>
            <a:r>
              <a:t>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📱  100% On-Device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⏱️  Real-Time Inference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🔒  AES-256 at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73152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7696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Battle-tested frameworks, zero cloud dependency at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76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18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806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806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14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React Native + Expo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147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SDK 50 · TypeScript 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924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1266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9554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554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562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TensorFlow Lite JSI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5627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C++ bridge · Sync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672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014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302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302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310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GhostFaceNet INT8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3107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MB · 512-dim embeddings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420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762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050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8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050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🕸️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058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MediaPipe WASM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0587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468 face landmarks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176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18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806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06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🗄️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14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SQLite + AES-256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814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Encrypted local database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4924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1266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9554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554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562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Hardware Keystore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562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iOS Keychain · Android 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672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1014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9302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302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310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Expo Location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310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GPS-tagged auth logs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4420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0762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9050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050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☁️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058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AWS Sync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058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Zero-loss batch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8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ANTI-SPOOFING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Multi-Factor</a:t>
            </a:r>
            <a:br/>
            <a:r>
              <a:t>3D Liveness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Four independent checks defeat photos, videos, and 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9923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Eye Aspect Ratio (EAR)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Real-time blink detection — threshold &lt; 0.33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6791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↔️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Head Yaw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Smoothed asymmetry with hysteresis (ON: 0.12, OFF: 0.09)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3659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3D Depth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Z-coordinate std dev separates 3D faces from flat screens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0527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23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Random Challenge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Shuffled per session — unpredictable for attackers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914400"/>
            <a:ext cx="2743200" cy="502920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423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429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Liveness check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1833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"Please blink"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GhostFaceNet</a:t>
            </a:r>
            <a:br/>
            <a:r>
              <a:t>INT8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Desktop-grade accuracy in a 1 MB on-device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669280" cy="3108960"/>
          </a:xfrm>
          <a:prstGeom prst="roundRect">
            <a:avLst>
              <a:gd name="adj" fmla="val 4000"/>
            </a:avLst>
          </a:prstGeom>
          <a:solidFill>
            <a:srgbClr val="0D101C"/>
          </a:solidFill>
          <a:ln w="12700">
            <a:solidFill>
              <a:srgbClr val="1E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51206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// Recognition Pipeline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capture → 3-shot average (180ms apart)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preprocess → 5-point face alignment (112×112)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lighting → CLAHE / histogram equalization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inference → model.runSync() via JSI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output → 512-dim L2-normalized embedding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match → cosine similarity vs encrypted DB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// Thresholds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single_user: 0.75 | multi_user: 0.84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high_confidence: 0.91 | margin: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097280"/>
            <a:ext cx="4389120" cy="2560320"/>
          </a:xfrm>
          <a:prstGeom prst="roundRect">
            <a:avLst>
              <a:gd name="adj" fmla="val 6000"/>
            </a:avLst>
          </a:prstGeom>
          <a:solidFill>
            <a:srgbClr val="12162A"/>
          </a:solidFill>
          <a:ln w="1905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65376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Photo: Face alignment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6148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5-point warp to canonical 112×112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187952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4114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2976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~1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8463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187952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0" y="4114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8463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3152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7696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Offline-First &amp; Zero-Loss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 integrity guaranteed — no log is ever lost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007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520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9527" y="2651760"/>
            <a:ext cx="548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20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Encrypted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524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524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100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AES-256-CBC encrypted embeddings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524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524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100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Hardware-backed Keychain/Keystore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524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524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100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Per-install encryption keys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051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9564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69967" y="2651760"/>
            <a:ext cx="548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564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Zero-Loss 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1568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568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44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Purge only after HTTP 200 + ID match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1568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568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44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Idempotent server-side processing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1568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568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44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Auto-sync on network reconnection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095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1608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90407" y="2651760"/>
            <a:ext cx="5486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608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608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612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612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188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GPS-tagged every auth event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3612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612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188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Photo thumbnail captured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612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612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188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UUID + ISO8601 timestamps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731520"/>
            <a:ext cx="109728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7696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App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Clean, minimal UI designed for outdoor field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248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248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48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Home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248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DemoAuthScreen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248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Enrollment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EnrollmentScreen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56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Face Enrollment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64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464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64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Success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64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Verified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64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Auth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731520"/>
            <a:ext cx="1371600" cy="320040"/>
          </a:xfrm>
          <a:prstGeom prst="roundRect">
            <a:avLst>
              <a:gd name="adj" fmla="val 15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7696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808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236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236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/>
              </a:defRPr>
            </a:pPr>
            <a:r>
              <a:t>~1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AI MODEL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840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268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268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68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EMBEDDING DIMS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Calibri"/>
              </a:defRPr>
            </a:pPr>
            <a:r>
              <a:t>468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FACE LANDMARKS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904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9332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332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32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CLOUD DEPENDENCY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808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236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236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366F1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36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1840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7268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268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INT8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68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QUANTIZATION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3300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300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300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TEST SUITES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3904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9332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9332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332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DATA LOSS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inference runs on-device via JSI C++ bridge — no network roundtrip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371600" cy="320040"/>
          </a:xfrm>
          <a:prstGeom prst="roundRect">
            <a:avLst>
              <a:gd name="adj" fmla="val 15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Tested &amp;</a:t>
            </a:r>
            <a:br/>
            <a:r>
              <a:t>Production-Ready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Comprehensive test coverage across every system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303520" cy="3291840"/>
          </a:xfrm>
          <a:prstGeom prst="roundRect">
            <a:avLst>
              <a:gd name="adj" fmla="val 4000"/>
            </a:avLst>
          </a:prstGeom>
          <a:solidFill>
            <a:srgbClr val="0D101C"/>
          </a:solidFill>
          <a:ln w="12700">
            <a:solidFill>
              <a:srgbClr val="1E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8463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# 9 test suites covering: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database.test.ts        → SQLite CRUD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liveness.test.ts        → EAR, yaw, depth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preprocessing.test.ts   → CLAHE, quality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recognition.test.ts     → Embeddings, cosine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networkSync.test.ts     → Zero-loss sync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enrollment.test.tsx     → Multi-capture flow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faceAuth.test.tsx       → Component render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orchestration.test.tsx  → Full pipeline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e2e.test.tsx            → End-to-end 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170432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280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Security Guarantees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8288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8415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8415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AES-256 encryption tested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987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2987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Zero-loss purge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7432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7559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559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Idempotent sync tested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005072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393192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114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Build &amp; Deploy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6634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6761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6761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EAS cloud builds (no Mac needed)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1206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51333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1333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iOS + Android from Windows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5778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5905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5905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TypeScript strict mode, 0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6352" y="841248"/>
            <a:ext cx="6675120" cy="3657600"/>
          </a:xfrm>
          <a:prstGeom prst="roundRect">
            <a:avLst>
              <a:gd name="adj" fmla="val 6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731520"/>
            <a:ext cx="6675120" cy="3657600"/>
          </a:xfrm>
          <a:prstGeom prst="roundRect">
            <a:avLst>
              <a:gd name="adj" fmla="val 6000"/>
            </a:avLst>
          </a:prstGeom>
          <a:solidFill>
            <a:srgbClr val="1E2540"/>
          </a:solidFill>
          <a:ln w="1270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760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6366F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5760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EdgeLock brings enterprise-grade biometric security</a:t>
            </a:r>
            <a:br/>
            <a:r>
              <a:t>to India's most remote highways — fully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92608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171B3A"/>
          </a:solidFill>
          <a:ln w="12700">
            <a:solidFill>
              <a:srgbClr val="35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95351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66F1"/>
                </a:solidFill>
                <a:latin typeface="Calibri"/>
              </a:defRPr>
            </a:pPr>
            <a:r>
              <a:t>🧠  TEAM BINARY BRAINS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65760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694176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💬  Questions?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94176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📱  Live Demo Ready</a:t>
            </a:r>
          </a:p>
        </p:txBody>
      </p:sp>
      <p:sp>
        <p:nvSpPr>
          <p:cNvPr id="13" name="Oval 12"/>
          <p:cNvSpPr/>
          <p:nvPr/>
        </p:nvSpPr>
        <p:spPr>
          <a:xfrm>
            <a:off x="2118207" y="4754880"/>
            <a:ext cx="1645920" cy="1645920"/>
          </a:xfrm>
          <a:prstGeom prst="ellipse">
            <a:avLst/>
          </a:prstGeom>
          <a:solidFill>
            <a:srgbClr val="12162A"/>
          </a:solidFill>
          <a:ln w="2540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8207" y="5212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820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16" name="Oval 15"/>
          <p:cNvSpPr/>
          <p:nvPr/>
        </p:nvSpPr>
        <p:spPr>
          <a:xfrm>
            <a:off x="4221327" y="4754880"/>
            <a:ext cx="1645920" cy="1645920"/>
          </a:xfrm>
          <a:prstGeom prst="ellipse">
            <a:avLst/>
          </a:prstGeom>
          <a:solidFill>
            <a:srgbClr val="12162A"/>
          </a:solidFill>
          <a:ln w="2540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1327" y="5212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32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4754880"/>
            <a:ext cx="1645920" cy="1645920"/>
          </a:xfrm>
          <a:prstGeom prst="ellipse">
            <a:avLst/>
          </a:prstGeom>
          <a:solidFill>
            <a:srgbClr val="12162A"/>
          </a:solidFill>
          <a:ln w="2540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5212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22" name="Oval 21"/>
          <p:cNvSpPr/>
          <p:nvPr/>
        </p:nvSpPr>
        <p:spPr>
          <a:xfrm>
            <a:off x="8427567" y="4754880"/>
            <a:ext cx="1645920" cy="1645920"/>
          </a:xfrm>
          <a:prstGeom prst="ellipse">
            <a:avLst/>
          </a:prstGeom>
          <a:solidFill>
            <a:srgbClr val="12162A"/>
          </a:solidFill>
          <a:ln w="2540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7567" y="5212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756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member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