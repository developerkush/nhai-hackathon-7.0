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2" y="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42032" y="1207008"/>
            <a:ext cx="7132320" cy="4114800"/>
          </a:xfrm>
          <a:prstGeom prst="roundRect">
            <a:avLst>
              <a:gd name="adj" fmla="val 6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68880" y="1097280"/>
            <a:ext cx="7132320" cy="4114800"/>
          </a:xfrm>
          <a:prstGeom prst="roundRect">
            <a:avLst>
              <a:gd name="adj" fmla="val 6000"/>
            </a:avLst>
          </a:prstGeom>
          <a:solidFill>
            <a:srgbClr val="1E2540"/>
          </a:solidFill>
          <a:ln w="1270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937760" y="14630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0" y="15011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NHAI HACKATHON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6366F1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108960"/>
            <a:ext cx="5760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Enterprise-Grade Offline-First Face Authentication</a:t>
            </a:r>
            <a:br/>
            <a:r>
              <a:t>&amp; 3D Liveness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114800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171B3A"/>
          </a:solidFill>
          <a:ln w="12700">
            <a:solidFill>
              <a:srgbClr val="35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41422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66F1"/>
                </a:solidFill>
                <a:latin typeface="Calibri"/>
              </a:defRPr>
            </a:pPr>
            <a:r>
              <a:t>🧠  TEAM BINARY BRAINS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62102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56718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📱  React 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562102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56718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🔒  Offline-First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621020"/>
            <a:ext cx="201168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567182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rPr dirty="0"/>
              <a:t>🧬  On-Device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3F5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Highway field crews work in</a:t>
            </a:r>
            <a:br/>
            <a:r>
              <a:t>zero-connectivity zones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771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No internet</a:t>
            </a:r>
            <a:r>
              <a:rPr sz="1400">
                <a:solidFill>
                  <a:srgbClr val="94A3B8"/>
                </a:solidFill>
                <a:latin typeface="Calibri"/>
              </a:rPr>
              <a:t> — Remote highways have zero cellular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258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Buddy punching</a:t>
            </a:r>
            <a:r>
              <a:rPr sz="1400">
                <a:solidFill>
                  <a:srgbClr val="94A3B8"/>
                </a:solidFill>
                <a:latin typeface="Calibri"/>
              </a:rPr>
              <a:t> — Proxy attendance with shared credentials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744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Spoofing attacks</a:t>
            </a:r>
            <a:r>
              <a:rPr sz="1400">
                <a:solidFill>
                  <a:srgbClr val="94A3B8"/>
                </a:solidFill>
                <a:latin typeface="Calibri"/>
              </a:rPr>
              <a:t> — Photos &amp; videos used to fake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230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Audit gap</a:t>
            </a:r>
            <a:r>
              <a:rPr sz="1400">
                <a:solidFill>
                  <a:srgbClr val="94A3B8"/>
                </a:solidFill>
                <a:latin typeface="Calibri"/>
              </a:rPr>
              <a:t> — No tamper-proof digital trail of attendance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097280"/>
            <a:ext cx="4389120" cy="2926080"/>
          </a:xfrm>
          <a:prstGeom prst="roundRect">
            <a:avLst>
              <a:gd name="adj" fmla="val 6000"/>
            </a:avLst>
          </a:prstGeom>
          <a:solidFill>
            <a:srgbClr val="12162A"/>
          </a:solidFill>
          <a:ln w="1905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1975104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5603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Photo: Highway construction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99232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Remote NHAI field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297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NHAI manages 1,40,000+ km of national highways across India</a:t>
            </a:r>
          </a:p>
        </p:txBody>
      </p:sp>
      <p:pic>
        <p:nvPicPr>
          <p:cNvPr id="1026" name="Picture 2" descr="100+ Road Construction Pictures | Download Free Images on Unsplash">
            <a:extLst>
              <a:ext uri="{FF2B5EF4-FFF2-40B4-BE49-F238E27FC236}">
                <a16:creationId xmlns:a16="http://schemas.microsoft.com/office/drawing/2014/main" id="{E8F09FE7-82AE-4E9A-A78B-B0C32B188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207" y="1106804"/>
            <a:ext cx="4527018" cy="2997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100% Offline Face Auth</a:t>
            </a:r>
            <a:br/>
            <a:r>
              <a:t>with 3D Liveness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914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771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On-device AI</a:t>
            </a:r>
            <a:r>
              <a:rPr sz="1400">
                <a:solidFill>
                  <a:srgbClr val="94A3B8"/>
                </a:solidFill>
                <a:latin typeface="Calibri"/>
              </a:rPr>
              <a:t> — GhostFaceNet INT8 runs entirely on the 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800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3D liveness</a:t>
            </a:r>
            <a:r>
              <a:rPr sz="1400">
                <a:solidFill>
                  <a:srgbClr val="94A3B8"/>
                </a:solidFill>
                <a:latin typeface="Calibri"/>
              </a:rPr>
              <a:t> — Blink + head turn + depth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830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AES-256 encrypted</a:t>
            </a:r>
            <a:r>
              <a:rPr sz="1400">
                <a:solidFill>
                  <a:srgbClr val="94A3B8"/>
                </a:solidFill>
                <a:latin typeface="Calibri"/>
              </a:rPr>
              <a:t> — Biometric data secured at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859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Auto-sync</a:t>
            </a:r>
            <a:r>
              <a:rPr sz="1400">
                <a:solidFill>
                  <a:srgbClr val="94A3B8"/>
                </a:solidFill>
                <a:latin typeface="Calibri"/>
              </a:rPr>
              <a:t> — Logs upload when connectivity returns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68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1F5F9"/>
                </a:solidFill>
                <a:latin typeface="Calibri"/>
              </a:rPr>
              <a:t>GPS-tagged</a:t>
            </a:r>
            <a:r>
              <a:rPr sz="1400">
                <a:solidFill>
                  <a:srgbClr val="94A3B8"/>
                </a:solidFill>
                <a:latin typeface="Calibri"/>
              </a:rPr>
              <a:t> — Every auth log includes geo-coordinates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914400"/>
            <a:ext cx="2560320" cy="475488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2340864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918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App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050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Auth flow demo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1DA8D-39FF-4815-94FD-7E689527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1" y="687361"/>
            <a:ext cx="2560320" cy="531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3152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7696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step runs on-device — zero cloud dependency during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6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80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80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Camera</a:t>
            </a:r>
            <a:br/>
            <a:r>
              <a:t>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81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48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2782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782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82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MediaPipe</a:t>
            </a:r>
            <a:br/>
            <a:r>
              <a:t>Face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83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50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784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784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🖼️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84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JPEG</a:t>
            </a:r>
            <a:br/>
            <a:r>
              <a:t>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52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786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786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86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Face Align</a:t>
            </a:r>
            <a:br/>
            <a:r>
              <a:t>+ CLAHE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87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54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0788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88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88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GhostFace</a:t>
            </a:r>
            <a:br/>
            <a:r>
              <a:t>INT8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89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56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790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790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90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Cosine</a:t>
            </a:r>
            <a:br/>
            <a:r>
              <a:t>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9187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15803" y="2615184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279227" y="2560320"/>
            <a:ext cx="1234440" cy="1463040"/>
          </a:xfrm>
          <a:prstGeom prst="roundRect">
            <a:avLst>
              <a:gd name="adj" fmla="val 8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79227" y="27889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9227" y="3337560"/>
            <a:ext cx="1234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Encrypted</a:t>
            </a:r>
            <a:br/>
            <a:r>
              <a:t>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1168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📱  100% On-Device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⏱️  Real-Time Inference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475488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0" y="4791456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🔒  AES-256 at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73152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0" y="7696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Battle-tested frameworks, zero cloud dependency at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76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518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806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4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806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14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rPr dirty="0"/>
              <a:t>React Native + Expo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147" y="31089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SDK 50 · TypeScript 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924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1266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9554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554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562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TensorFlow Lite JSI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5627" y="3095625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C++ bridge · Sync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672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014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9302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302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310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GhostFaceNet INT8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3107" y="310515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1 MB · 512-dim embeddings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4203" y="251460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07627" y="24688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0507" y="2743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8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0507" y="276148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🕸️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0587" y="26974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MediaPipe WASM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0587" y="30175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468 face landmarks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176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518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806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806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🗄️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14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SQLite + AES-256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814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Encrypted local database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4924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51266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9554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9554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562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Hardware Keystore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5627" y="4404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iOS Keychain · Android 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672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21014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9302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9302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310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Expo Location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310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GPS-tagged auth logs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44203" y="384048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907627" y="3794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090507" y="40690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0507" y="408736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F5F9"/>
                </a:solidFill>
                <a:latin typeface="Segoe UI Emoji"/>
              </a:defRPr>
            </a:pPr>
            <a:r>
              <a:t>☁️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0587" y="40233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Calibri"/>
              </a:defRPr>
            </a:pPr>
            <a:r>
              <a:t>AWS Sync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0587" y="43434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Zero-loss batch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8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ANTI-SPOOFING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Multi-Factor</a:t>
            </a:r>
            <a:br/>
            <a:r>
              <a:t>3D Liveness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Four independent checks defeat photos, videos, and 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9923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Eye Aspect Ratio (EAR)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Real-time blink detection — threshold &lt; 0.33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6791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↔️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86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Head Yaw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Smoothed asymmetry with hysteresis (ON: 0.12, OFF: 0.09)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3659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3D Depth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Z-coordinate std dev separates 3D faces from flat screens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05272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23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Calibri"/>
              </a:defRPr>
            </a:pPr>
            <a:r>
              <a:t>Random Challenge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Shuffled per session — unpredictable for attackers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914400"/>
            <a:ext cx="2743200" cy="502920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2423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429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Liveness check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1833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rPr dirty="0"/>
              <a:t>"Please blink" prompt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EEE36D1-58C0-4073-8C5B-8D85CDC45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31986"/>
            <a:ext cx="2817496" cy="56505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GhostFaceNet</a:t>
            </a:r>
            <a:br/>
            <a:r>
              <a:t>INT8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Desktop-grade accuracy in a 1 MB on-device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669280" cy="3108960"/>
          </a:xfrm>
          <a:prstGeom prst="roundRect">
            <a:avLst>
              <a:gd name="adj" fmla="val 4000"/>
            </a:avLst>
          </a:prstGeom>
          <a:solidFill>
            <a:srgbClr val="0D101C"/>
          </a:solidFill>
          <a:ln w="12700">
            <a:solidFill>
              <a:srgbClr val="1E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51206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// Recognition Pipeline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capture → 3-shot average (180ms apart)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preprocess → 5-point face alignment (112×112)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lighting → CLAHE / histogram equalization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inference → model.runSync() via JSI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output → 512-dim L2-normalized embedding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Consolas"/>
              </a:defRPr>
            </a:pPr>
            <a:r>
              <a:t>match → cosine similarity vs encrypted DB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64748B"/>
                </a:solidFill>
                <a:latin typeface="Consolas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64748B"/>
                </a:solidFill>
                <a:latin typeface="Consolas"/>
              </a:defRPr>
            </a:pPr>
            <a:r>
              <a:t>// Thresholds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single_user: 0.75 | multi_user: 0.84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high_confidence: 0.91 | margin: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097280"/>
            <a:ext cx="4389120" cy="2560320"/>
          </a:xfrm>
          <a:prstGeom prst="roundRect">
            <a:avLst>
              <a:gd name="adj" fmla="val 6000"/>
            </a:avLst>
          </a:prstGeom>
          <a:solidFill>
            <a:srgbClr val="12162A"/>
          </a:solidFill>
          <a:ln w="19050">
            <a:solidFill>
              <a:srgbClr val="2D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0" y="1865376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rPr dirty="0"/>
              <a:t>Photo: Face alignment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61488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5-point warp to canonical 112×112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187952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0" y="4114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42976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~1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8463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187952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0" y="4114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8463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DIMENSIONS</a:t>
            </a:r>
          </a:p>
        </p:txBody>
      </p:sp>
      <p:pic>
        <p:nvPicPr>
          <p:cNvPr id="2054" name="Picture 6" descr="What is Face Recognition: How It Works + Use Cases, Benefits and FAQs">
            <a:extLst>
              <a:ext uri="{FF2B5EF4-FFF2-40B4-BE49-F238E27FC236}">
                <a16:creationId xmlns:a16="http://schemas.microsoft.com/office/drawing/2014/main" id="{63910464-0A93-4DB2-9CFD-7937CE3BD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5" t="3497" r="14750" b="3996"/>
          <a:stretch/>
        </p:blipFill>
        <p:spPr bwMode="auto">
          <a:xfrm>
            <a:off x="6848475" y="530353"/>
            <a:ext cx="4612005" cy="349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3152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7696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Offline-First &amp; Zero-Loss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 integrity guaranteed — no log is ever lost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007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520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49527" y="2651760"/>
            <a:ext cx="548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520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Encrypted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524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524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100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AES-256-CBC encrypted embeddings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524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24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100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Hardware-backed Keychain/Keystore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524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524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100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Per-install encryption keys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051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9564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69967" y="2651760"/>
            <a:ext cx="548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564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Zero-Loss 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1568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568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44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Purge only after HTTP 200 + ID match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1568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1568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44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Idempotent server-side processing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1568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1568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44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Auto-sync on network reconnection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0951" y="2633472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016087" y="2560320"/>
            <a:ext cx="3200400" cy="3291840"/>
          </a:xfrm>
          <a:prstGeom prst="roundRect">
            <a:avLst>
              <a:gd name="adj" fmla="val 5000"/>
            </a:avLst>
          </a:prstGeom>
          <a:solidFill>
            <a:srgbClr val="1E2540"/>
          </a:solidFill>
          <a:ln w="12700">
            <a:solidFill>
              <a:srgbClr val="28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90407" y="2651760"/>
            <a:ext cx="5486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6087" y="2834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1F5F9"/>
                </a:solidFill>
                <a:latin typeface="Segoe UI Emoji"/>
              </a:defRPr>
            </a:pPr>
            <a:r>
              <a:t>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6087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6127" y="3931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6127" y="394462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1887" y="39573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GPS-tagged every auth event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36127" y="443484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6127" y="44475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1887" y="446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Photo thumbnail captured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6127" y="493776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36127" y="495046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1887" y="496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UUID + ISO8601 timestamps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731520"/>
            <a:ext cx="1097280" cy="320040"/>
          </a:xfrm>
          <a:prstGeom prst="roundRect">
            <a:avLst>
              <a:gd name="adj" fmla="val 15000"/>
            </a:avLst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7696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App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Clean, minimal UI designed for outdoor field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248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7248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48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Home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248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DemoAuthScreen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248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856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Enrollment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EnrollmentScreen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56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Face Enrollment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647" y="2468880"/>
            <a:ext cx="2194560" cy="3931920"/>
          </a:xfrm>
          <a:prstGeom prst="roundRect">
            <a:avLst>
              <a:gd name="adj" fmla="val 12000"/>
            </a:avLst>
          </a:prstGeom>
          <a:solidFill>
            <a:srgbClr val="12162A"/>
          </a:solidFill>
          <a:ln w="25400">
            <a:solidFill>
              <a:srgbClr val="3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4647" y="364845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64748B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647" y="44348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Success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647" y="50246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45066"/>
                </a:solidFill>
                <a:latin typeface="Calibri"/>
              </a:defRPr>
            </a:pPr>
            <a:r>
              <a:t>Verified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647" y="65379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Calibri"/>
              </a:defRPr>
            </a:pPr>
            <a:r>
              <a:t>Auth Success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63CC19-C474-4E28-9B32-E70CBBEA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286001"/>
            <a:ext cx="2417445" cy="4114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FCC367-3008-41CC-97F1-D94977E1A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547" y="2286000"/>
            <a:ext cx="2444600" cy="41148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FE7E2B-81E5-42D7-A65D-93A00D4AC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569" y="2285999"/>
            <a:ext cx="2444600" cy="4114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731520"/>
            <a:ext cx="1371600" cy="320040"/>
          </a:xfrm>
          <a:prstGeom prst="roundRect">
            <a:avLst>
              <a:gd name="adj" fmla="val 15000"/>
            </a:avLst>
          </a:prstGeom>
          <a:solidFill>
            <a:srgbClr val="3D2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0" y="7696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808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1236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236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/>
              </a:defRPr>
            </a:pPr>
            <a:r>
              <a:t>~1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AI MODEL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840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7268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268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68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EMBEDDING DIMS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300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300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Calibri"/>
              </a:defRPr>
            </a:pPr>
            <a:r>
              <a:t>468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FACE LANDMARKS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9047" y="226771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93327" y="219456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93327" y="23774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3327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CLOUD DEPENDENCY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808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1236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236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366F1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36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1840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7268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7268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Calibri"/>
              </a:defRPr>
            </a:pPr>
            <a:r>
              <a:t>INT8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268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QUANTIZATION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3300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300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300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TEST SUITES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39047" y="3913632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793327" y="38404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93327" y="402336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3327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DATA LOSS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inference runs on-device via JSI C++ bridge — no network roundtrip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38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Calibri"/>
              </a:defRPr>
            </a:pPr>
            <a:r>
              <a:t>EdgeLock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371600" cy="320040"/>
          </a:xfrm>
          <a:prstGeom prst="roundRect">
            <a:avLst>
              <a:gd name="adj" fmla="val 15000"/>
            </a:avLst>
          </a:prstGeom>
          <a:solidFill>
            <a:srgbClr val="20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525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Tested &amp;</a:t>
            </a:r>
            <a:br/>
            <a:r>
              <a:t>Production-Ready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Comprehensive test coverage across every system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303520" cy="3291840"/>
          </a:xfrm>
          <a:prstGeom prst="roundRect">
            <a:avLst>
              <a:gd name="adj" fmla="val 4000"/>
            </a:avLst>
          </a:prstGeom>
          <a:solidFill>
            <a:srgbClr val="0D101C"/>
          </a:solidFill>
          <a:ln w="12700">
            <a:solidFill>
              <a:srgbClr val="1E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8463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t># 9 test suites covering: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database.test.ts        → SQLite CRUD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liveness.test.ts        → EAR, yaw, depth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preprocessing.test.ts   → CLAHE, quality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recognition.test.ts     → Embeddings, cosine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networkSync.test.ts     → Zero-loss sync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enrollment.test.tsx     → Multi-capture flow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faceAuth.test.tsx       → Component render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orchestration.test.tsx  → Full pipeline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e2e.test.tsx            → End-to-end 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170432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280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Security Guarantees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8288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8415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8415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AES-256 encryption tested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22987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2987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Zero-loss purge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74320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75590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559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Idempotent sync tested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005072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0" y="393192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1F5F9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114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Build &amp; Deploy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6634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6761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6761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EAS cloud builds (no Mac needed)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1206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51333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1333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iOS + Android from Windows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57784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C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559054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5905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TypeScript strict mode, 0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6352" y="841248"/>
            <a:ext cx="6675120" cy="3657600"/>
          </a:xfrm>
          <a:prstGeom prst="roundRect">
            <a:avLst>
              <a:gd name="adj" fmla="val 6000"/>
            </a:avLst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731520"/>
            <a:ext cx="6675120" cy="3657600"/>
          </a:xfrm>
          <a:prstGeom prst="roundRect">
            <a:avLst>
              <a:gd name="adj" fmla="val 6000"/>
            </a:avLst>
          </a:prstGeom>
          <a:solidFill>
            <a:srgbClr val="1E2540"/>
          </a:solidFill>
          <a:ln w="12700">
            <a:solidFill>
              <a:srgbClr val="2A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760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6366F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5760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EdgeLock brings enterprise-grade biometric security</a:t>
            </a:r>
            <a:br/>
            <a:r>
              <a:t>to India's most remote highways — fully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744497"/>
            <a:ext cx="2743200" cy="411480"/>
          </a:xfrm>
          <a:prstGeom prst="roundRect">
            <a:avLst>
              <a:gd name="adj" fmla="val 30000"/>
            </a:avLst>
          </a:prstGeom>
          <a:solidFill>
            <a:srgbClr val="171B3A"/>
          </a:solidFill>
          <a:ln w="12700">
            <a:solidFill>
              <a:srgbClr val="35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4400" y="2783377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366F1"/>
                </a:solidFill>
                <a:latin typeface="Calibri"/>
              </a:defRPr>
            </a:pPr>
            <a:r>
              <a:rPr dirty="0"/>
              <a:t>🧠  TEAM BINARY BRAINS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6024" y="3419394"/>
            <a:ext cx="4295775" cy="524084"/>
          </a:xfrm>
          <a:prstGeom prst="roundRect">
            <a:avLst>
              <a:gd name="adj" fmla="val 30000"/>
            </a:avLst>
          </a:prstGeom>
          <a:solidFill>
            <a:srgbClr val="1A1F35"/>
          </a:solidFill>
          <a:ln w="12700">
            <a:solidFill>
              <a:srgbClr val="25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006" y="3538814"/>
            <a:ext cx="4668012" cy="3063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rPr lang="en-IN" dirty="0"/>
              <a:t>https://github.com/DeveloperKush/NHAI-Hackathon-7.0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221327" y="5212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4748B"/>
                </a:solidFill>
                <a:latin typeface="Segoe UI Emoji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32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rPr dirty="0"/>
              <a:t>Team member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6692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member 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8E0B2D-551C-4C3A-A1E9-F4470D11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4762265"/>
            <a:ext cx="1504796" cy="1638535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C84A00A-70CD-427C-9709-C71EE63371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44" t="15911" r="34950" b="57635"/>
          <a:stretch/>
        </p:blipFill>
        <p:spPr>
          <a:xfrm>
            <a:off x="6400799" y="4736592"/>
            <a:ext cx="1569567" cy="1664208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Google Shape;59;p4">
            <a:extLst>
              <a:ext uri="{FF2B5EF4-FFF2-40B4-BE49-F238E27FC236}">
                <a16:creationId xmlns:a16="http://schemas.microsoft.com/office/drawing/2014/main" id="{348EA635-EB62-4F65-9CDF-B8A3EBA3F943}"/>
              </a:ext>
            </a:extLst>
          </p:cNvPr>
          <p:cNvSpPr/>
          <p:nvPr/>
        </p:nvSpPr>
        <p:spPr>
          <a:xfrm>
            <a:off x="3337590" y="6444945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 SARASWAT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66;p4">
            <a:extLst>
              <a:ext uri="{FF2B5EF4-FFF2-40B4-BE49-F238E27FC236}">
                <a16:creationId xmlns:a16="http://schemas.microsoft.com/office/drawing/2014/main" id="{5FA6A44C-8B48-4551-BA9F-054A145B265F}"/>
              </a:ext>
            </a:extLst>
          </p:cNvPr>
          <p:cNvSpPr/>
          <p:nvPr/>
        </p:nvSpPr>
        <p:spPr>
          <a:xfrm>
            <a:off x="5228087" y="6431265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SMARPIT MALIK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837</Words>
  <Application>Microsoft Office PowerPoint</Application>
  <PresentationFormat>Widescreen</PresentationFormat>
  <Paragraphs>249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Kush Saraswat</dc:creator>
  <cp:keywords/>
  <dc:description>generated using python-pptx</dc:description>
  <cp:lastModifiedBy>Kush Saraswat</cp:lastModifiedBy>
  <cp:revision>6</cp:revision>
  <dcterms:created xsi:type="dcterms:W3CDTF">2013-01-27T09:14:16Z</dcterms:created>
  <dcterms:modified xsi:type="dcterms:W3CDTF">2026-07-26T11:28:49Z</dcterms:modified>
  <cp:category/>
</cp:coreProperties>
</file>